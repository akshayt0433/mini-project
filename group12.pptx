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Proxima Nova Bold" charset="1" panose="02000506030000020004"/>
      <p:regular r:id="rId15"/>
    </p:embeddedFont>
    <p:embeddedFont>
      <p:font typeface="Canva Sans Bold" charset="1" panose="020B0803030501040103"/>
      <p:regular r:id="rId16"/>
    </p:embeddedFont>
    <p:embeddedFont>
      <p:font typeface="Canva Sans" charset="1" panose="020B0503030501040103"/>
      <p:regular r:id="rId17"/>
    </p:embeddedFont>
    <p:embeddedFont>
      <p:font typeface="Nunito Bold" charset="1" panose="00000000000000000000"/>
      <p:regular r:id="rId18"/>
    </p:embeddedFont>
    <p:embeddedFont>
      <p:font typeface="Nunito Sans Condensed" charset="1" panose="00000000000000000000"/>
      <p:regular r:id="rId19"/>
    </p:embeddedFont>
    <p:embeddedFont>
      <p:font typeface="Nunito Sans Condensed Bold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svg" Type="http://schemas.openxmlformats.org/officeDocument/2006/relationships/image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29.png" Type="http://schemas.openxmlformats.org/officeDocument/2006/relationships/image"/><Relationship Id="rId15" Target="../media/image30.svg" Type="http://schemas.openxmlformats.org/officeDocument/2006/relationships/image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33.png" Type="http://schemas.openxmlformats.org/officeDocument/2006/relationships/image"/><Relationship Id="rId9" Target="../media/image3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png" Type="http://schemas.openxmlformats.org/officeDocument/2006/relationships/image"/><Relationship Id="rId11" Target="../media/image46.svg" Type="http://schemas.openxmlformats.org/officeDocument/2006/relationships/image"/><Relationship Id="rId12" Target="../media/image47.png" Type="http://schemas.openxmlformats.org/officeDocument/2006/relationships/image"/><Relationship Id="rId13" Target="../media/image48.svg" Type="http://schemas.openxmlformats.org/officeDocument/2006/relationships/image"/><Relationship Id="rId14" Target="../media/image49.jpeg" Type="http://schemas.openxmlformats.org/officeDocument/2006/relationships/image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41.png" Type="http://schemas.openxmlformats.org/officeDocument/2006/relationships/image"/><Relationship Id="rId7" Target="../media/image42.svg" Type="http://schemas.openxmlformats.org/officeDocument/2006/relationships/image"/><Relationship Id="rId8" Target="../media/image43.png" Type="http://schemas.openxmlformats.org/officeDocument/2006/relationships/image"/><Relationship Id="rId9" Target="../media/image4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50.png" Type="http://schemas.openxmlformats.org/officeDocument/2006/relationships/image"/><Relationship Id="rId5" Target="../media/image51.svg" Type="http://schemas.openxmlformats.org/officeDocument/2006/relationships/image"/><Relationship Id="rId6" Target="../media/image52.png" Type="http://schemas.openxmlformats.org/officeDocument/2006/relationships/image"/><Relationship Id="rId7" Target="../media/image53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6.png" Type="http://schemas.openxmlformats.org/officeDocument/2006/relationships/image"/><Relationship Id="rId11" Target="../media/image57.svg" Type="http://schemas.openxmlformats.org/officeDocument/2006/relationships/image"/><Relationship Id="rId12" Target="../media/image58.png" Type="http://schemas.openxmlformats.org/officeDocument/2006/relationships/image"/><Relationship Id="rId13" Target="../media/image59.svg" Type="http://schemas.openxmlformats.org/officeDocument/2006/relationships/image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54.png" Type="http://schemas.openxmlformats.org/officeDocument/2006/relationships/image"/><Relationship Id="rId5" Target="../media/image55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7.png" Type="http://schemas.openxmlformats.org/officeDocument/2006/relationships/image"/><Relationship Id="rId13" Target="../media/image8.svg" Type="http://schemas.openxmlformats.org/officeDocument/2006/relationships/image"/><Relationship Id="rId2" Target="../media/image60.png" Type="http://schemas.openxmlformats.org/officeDocument/2006/relationships/image"/><Relationship Id="rId3" Target="../media/image61.svg" Type="http://schemas.openxmlformats.org/officeDocument/2006/relationships/image"/><Relationship Id="rId4" Target="../media/image62.png" Type="http://schemas.openxmlformats.org/officeDocument/2006/relationships/image"/><Relationship Id="rId5" Target="../media/image63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4416" y="6972258"/>
            <a:ext cx="16110077" cy="2191192"/>
          </a:xfrm>
          <a:custGeom>
            <a:avLst/>
            <a:gdLst/>
            <a:ahLst/>
            <a:cxnLst/>
            <a:rect r="r" b="b" t="t" l="l"/>
            <a:pathLst>
              <a:path h="2191192" w="16110077">
                <a:moveTo>
                  <a:pt x="0" y="0"/>
                </a:moveTo>
                <a:lnTo>
                  <a:pt x="16110077" y="0"/>
                </a:lnTo>
                <a:lnTo>
                  <a:pt x="16110077" y="2191192"/>
                </a:lnTo>
                <a:lnTo>
                  <a:pt x="0" y="21911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210132" y="3503568"/>
            <a:ext cx="6428161" cy="7044672"/>
          </a:xfrm>
          <a:custGeom>
            <a:avLst/>
            <a:gdLst/>
            <a:ahLst/>
            <a:cxnLst/>
            <a:rect r="r" b="b" t="t" l="l"/>
            <a:pathLst>
              <a:path h="7044672" w="6428161">
                <a:moveTo>
                  <a:pt x="6428161" y="0"/>
                </a:moveTo>
                <a:lnTo>
                  <a:pt x="0" y="0"/>
                </a:lnTo>
                <a:lnTo>
                  <a:pt x="0" y="7044672"/>
                </a:lnTo>
                <a:lnTo>
                  <a:pt x="6428161" y="7044672"/>
                </a:lnTo>
                <a:lnTo>
                  <a:pt x="642816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7" r="0" b="-1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954638" y="1808754"/>
            <a:ext cx="6673607" cy="5969845"/>
          </a:xfrm>
          <a:custGeom>
            <a:avLst/>
            <a:gdLst/>
            <a:ahLst/>
            <a:cxnLst/>
            <a:rect r="r" b="b" t="t" l="l"/>
            <a:pathLst>
              <a:path h="5969845" w="6673607">
                <a:moveTo>
                  <a:pt x="0" y="0"/>
                </a:moveTo>
                <a:lnTo>
                  <a:pt x="6673607" y="0"/>
                </a:lnTo>
                <a:lnTo>
                  <a:pt x="6673607" y="5969845"/>
                </a:lnTo>
                <a:lnTo>
                  <a:pt x="0" y="59698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73" r="0" b="-7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10132" y="-246115"/>
            <a:ext cx="2763574" cy="2763574"/>
          </a:xfrm>
          <a:custGeom>
            <a:avLst/>
            <a:gdLst/>
            <a:ahLst/>
            <a:cxnLst/>
            <a:rect r="r" b="b" t="t" l="l"/>
            <a:pathLst>
              <a:path h="2763574" w="2763574">
                <a:moveTo>
                  <a:pt x="0" y="0"/>
                </a:moveTo>
                <a:lnTo>
                  <a:pt x="2763574" y="0"/>
                </a:lnTo>
                <a:lnTo>
                  <a:pt x="2763574" y="2763574"/>
                </a:lnTo>
                <a:lnTo>
                  <a:pt x="0" y="276357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2821838" y="-2334403"/>
            <a:ext cx="5617660" cy="6156438"/>
          </a:xfrm>
          <a:custGeom>
            <a:avLst/>
            <a:gdLst/>
            <a:ahLst/>
            <a:cxnLst/>
            <a:rect r="r" b="b" t="t" l="l"/>
            <a:pathLst>
              <a:path h="6156438" w="5617660">
                <a:moveTo>
                  <a:pt x="0" y="6156438"/>
                </a:moveTo>
                <a:lnTo>
                  <a:pt x="5617660" y="6156438"/>
                </a:lnTo>
                <a:lnTo>
                  <a:pt x="5617660" y="0"/>
                </a:lnTo>
                <a:lnTo>
                  <a:pt x="0" y="0"/>
                </a:lnTo>
                <a:lnTo>
                  <a:pt x="0" y="61564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2" r="0" b="-32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062981" y="2238871"/>
            <a:ext cx="7517714" cy="3408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36"/>
              </a:lnSpc>
            </a:pPr>
            <a:r>
              <a:rPr lang="en-US" b="true" sz="8538" spc="-24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HRMS </a:t>
            </a:r>
          </a:p>
          <a:p>
            <a:pPr algn="l">
              <a:lnSpc>
                <a:spcPts val="9136"/>
              </a:lnSpc>
            </a:pPr>
            <a:r>
              <a:rPr lang="en-US" b="true" sz="8538" spc="-24">
                <a:solidFill>
                  <a:srgbClr val="C62E2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RECRUITMENT</a:t>
            </a:r>
          </a:p>
          <a:p>
            <a:pPr algn="l">
              <a:lnSpc>
                <a:spcPts val="9136"/>
              </a:lnSpc>
            </a:pPr>
            <a:r>
              <a:rPr lang="en-US" b="true" sz="8538" spc="-24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MANAGEMENT</a:t>
            </a:r>
          </a:p>
        </p:txBody>
      </p:sp>
      <p:sp>
        <p:nvSpPr>
          <p:cNvPr name="Freeform 8" id="8"/>
          <p:cNvSpPr/>
          <p:nvPr/>
        </p:nvSpPr>
        <p:spPr>
          <a:xfrm flipH="true" flipV="true" rot="0">
            <a:off x="16186781" y="6389577"/>
            <a:ext cx="2252716" cy="2252716"/>
          </a:xfrm>
          <a:custGeom>
            <a:avLst/>
            <a:gdLst/>
            <a:ahLst/>
            <a:cxnLst/>
            <a:rect r="r" b="b" t="t" l="l"/>
            <a:pathLst>
              <a:path h="2252716" w="2252716">
                <a:moveTo>
                  <a:pt x="2252716" y="2252716"/>
                </a:moveTo>
                <a:lnTo>
                  <a:pt x="0" y="2252716"/>
                </a:lnTo>
                <a:lnTo>
                  <a:pt x="0" y="0"/>
                </a:lnTo>
                <a:lnTo>
                  <a:pt x="2252716" y="0"/>
                </a:lnTo>
                <a:lnTo>
                  <a:pt x="2252716" y="2252716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879836" y="5647530"/>
            <a:ext cx="1306945" cy="326736"/>
          </a:xfrm>
          <a:custGeom>
            <a:avLst/>
            <a:gdLst/>
            <a:ahLst/>
            <a:cxnLst/>
            <a:rect r="r" b="b" t="t" l="l"/>
            <a:pathLst>
              <a:path h="326736" w="1306945">
                <a:moveTo>
                  <a:pt x="0" y="0"/>
                </a:moveTo>
                <a:lnTo>
                  <a:pt x="1306945" y="0"/>
                </a:lnTo>
                <a:lnTo>
                  <a:pt x="1306945" y="326736"/>
                </a:lnTo>
                <a:lnTo>
                  <a:pt x="0" y="32673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724" r="0" b="-724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927432" y="-1581646"/>
            <a:ext cx="3163292" cy="3163292"/>
          </a:xfrm>
          <a:custGeom>
            <a:avLst/>
            <a:gdLst/>
            <a:ahLst/>
            <a:cxnLst/>
            <a:rect r="r" b="b" t="t" l="l"/>
            <a:pathLst>
              <a:path h="3163292" w="3163292">
                <a:moveTo>
                  <a:pt x="0" y="0"/>
                </a:moveTo>
                <a:lnTo>
                  <a:pt x="3163292" y="0"/>
                </a:lnTo>
                <a:lnTo>
                  <a:pt x="3163292" y="3163292"/>
                </a:lnTo>
                <a:lnTo>
                  <a:pt x="0" y="316329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770359" y="7185138"/>
            <a:ext cx="2845457" cy="722283"/>
          </a:xfrm>
          <a:custGeom>
            <a:avLst/>
            <a:gdLst/>
            <a:ahLst/>
            <a:cxnLst/>
            <a:rect r="r" b="b" t="t" l="l"/>
            <a:pathLst>
              <a:path h="722283" w="2845457">
                <a:moveTo>
                  <a:pt x="0" y="0"/>
                </a:moveTo>
                <a:lnTo>
                  <a:pt x="2845457" y="0"/>
                </a:lnTo>
                <a:lnTo>
                  <a:pt x="2845457" y="722283"/>
                </a:lnTo>
                <a:lnTo>
                  <a:pt x="0" y="72228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-726" r="0" b="-726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46270" y="1983047"/>
            <a:ext cx="6426059" cy="6320905"/>
          </a:xfrm>
          <a:custGeom>
            <a:avLst/>
            <a:gdLst/>
            <a:ahLst/>
            <a:cxnLst/>
            <a:rect r="r" b="b" t="t" l="l"/>
            <a:pathLst>
              <a:path h="6320905" w="6426059">
                <a:moveTo>
                  <a:pt x="0" y="0"/>
                </a:moveTo>
                <a:lnTo>
                  <a:pt x="6426059" y="0"/>
                </a:lnTo>
                <a:lnTo>
                  <a:pt x="6426059" y="6320905"/>
                </a:lnTo>
                <a:lnTo>
                  <a:pt x="0" y="63209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70" t="0" r="-7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0" y="-536793"/>
            <a:ext cx="3892340" cy="4265647"/>
          </a:xfrm>
          <a:custGeom>
            <a:avLst/>
            <a:gdLst/>
            <a:ahLst/>
            <a:cxnLst/>
            <a:rect r="r" b="b" t="t" l="l"/>
            <a:pathLst>
              <a:path h="4265647" w="3892340">
                <a:moveTo>
                  <a:pt x="3892340" y="4265647"/>
                </a:moveTo>
                <a:lnTo>
                  <a:pt x="0" y="4265647"/>
                </a:lnTo>
                <a:lnTo>
                  <a:pt x="0" y="0"/>
                </a:lnTo>
                <a:lnTo>
                  <a:pt x="3892340" y="0"/>
                </a:lnTo>
                <a:lnTo>
                  <a:pt x="3892340" y="426564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5" t="0" r="-2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93046" y="2647866"/>
            <a:ext cx="13522288" cy="7639134"/>
          </a:xfrm>
          <a:custGeom>
            <a:avLst/>
            <a:gdLst/>
            <a:ahLst/>
            <a:cxnLst/>
            <a:rect r="r" b="b" t="t" l="l"/>
            <a:pathLst>
              <a:path h="7639134" w="13522288">
                <a:moveTo>
                  <a:pt x="0" y="0"/>
                </a:moveTo>
                <a:lnTo>
                  <a:pt x="13522288" y="0"/>
                </a:lnTo>
                <a:lnTo>
                  <a:pt x="13522288" y="7639134"/>
                </a:lnTo>
                <a:lnTo>
                  <a:pt x="0" y="76391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563540" y="408536"/>
            <a:ext cx="9186556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99"/>
              </a:lnSpc>
            </a:pPr>
            <a:r>
              <a:rPr lang="en-US" b="true" sz="9638" spc="-27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INTRODUCTION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15654139" y="-94605"/>
            <a:ext cx="2763574" cy="2763574"/>
          </a:xfrm>
          <a:custGeom>
            <a:avLst/>
            <a:gdLst/>
            <a:ahLst/>
            <a:cxnLst/>
            <a:rect r="r" b="b" t="t" l="l"/>
            <a:pathLst>
              <a:path h="2763574" w="2763574">
                <a:moveTo>
                  <a:pt x="2763574" y="0"/>
                </a:moveTo>
                <a:lnTo>
                  <a:pt x="0" y="0"/>
                </a:lnTo>
                <a:lnTo>
                  <a:pt x="0" y="2763574"/>
                </a:lnTo>
                <a:lnTo>
                  <a:pt x="2763574" y="2763574"/>
                </a:lnTo>
                <a:lnTo>
                  <a:pt x="27635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94899" y="-1321060"/>
            <a:ext cx="3101891" cy="3101891"/>
          </a:xfrm>
          <a:custGeom>
            <a:avLst/>
            <a:gdLst/>
            <a:ahLst/>
            <a:cxnLst/>
            <a:rect r="r" b="b" t="t" l="l"/>
            <a:pathLst>
              <a:path h="3101891" w="3101891">
                <a:moveTo>
                  <a:pt x="0" y="0"/>
                </a:moveTo>
                <a:lnTo>
                  <a:pt x="3101891" y="0"/>
                </a:lnTo>
                <a:lnTo>
                  <a:pt x="3101891" y="3101891"/>
                </a:lnTo>
                <a:lnTo>
                  <a:pt x="0" y="310189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65343" y="2681360"/>
            <a:ext cx="12360022" cy="2462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10"/>
              </a:lnSpc>
            </a:pPr>
            <a:r>
              <a:rPr lang="en-US" b="true" sz="3865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Integrated Module </a:t>
            </a:r>
          </a:p>
          <a:p>
            <a:pPr algn="just">
              <a:lnSpc>
                <a:spcPts val="4570"/>
              </a:lnSpc>
            </a:pPr>
            <a:r>
              <a:rPr lang="en-US" sz="326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Central hub within HumanResource Management Systems handling all    recruitment activities in one unified platform.</a:t>
            </a:r>
          </a:p>
          <a:p>
            <a:pPr algn="ctr">
              <a:lnSpc>
                <a:spcPts val="457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61866" y="4772495"/>
            <a:ext cx="12166976" cy="3363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8"/>
              </a:lnSpc>
            </a:pPr>
            <a:r>
              <a:rPr lang="en-US" sz="372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                      </a:t>
            </a:r>
            <a:r>
              <a:rPr lang="en-US" b="true" sz="3720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Automation Engine </a:t>
            </a:r>
          </a:p>
          <a:p>
            <a:pPr algn="l">
              <a:lnSpc>
                <a:spcPts val="5208"/>
              </a:lnSpc>
            </a:pPr>
            <a:r>
              <a:rPr lang="en-US" sz="37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Automates job posting, candidate tracking, interview </a:t>
            </a:r>
          </a:p>
          <a:p>
            <a:pPr algn="l">
              <a:lnSpc>
                <a:spcPts val="5208"/>
              </a:lnSpc>
            </a:pPr>
            <a:r>
              <a:rPr lang="en-US" sz="37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scheduling, and onboarding workflows to reduce manual effort.</a:t>
            </a:r>
          </a:p>
          <a:p>
            <a:pPr algn="l">
              <a:lnSpc>
                <a:spcPts val="5208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43716" y="7309341"/>
            <a:ext cx="12385526" cy="2977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31"/>
              </a:lnSpc>
            </a:pPr>
            <a:r>
              <a:rPr lang="en-US" b="true" sz="3666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Centralized Data </a:t>
            </a:r>
          </a:p>
          <a:p>
            <a:pPr algn="ctr">
              <a:lnSpc>
                <a:spcPts val="5131"/>
              </a:lnSpc>
            </a:pPr>
            <a:r>
              <a:rPr lang="en-US" sz="366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Consolidates all recruitment information in one secure location for better visibility and data-driven decision making.</a:t>
            </a:r>
          </a:p>
          <a:p>
            <a:pPr algn="ctr">
              <a:lnSpc>
                <a:spcPts val="262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2311" y="8586190"/>
            <a:ext cx="19398061" cy="1434601"/>
          </a:xfrm>
          <a:custGeom>
            <a:avLst/>
            <a:gdLst/>
            <a:ahLst/>
            <a:cxnLst/>
            <a:rect r="r" b="b" t="t" l="l"/>
            <a:pathLst>
              <a:path h="1434601" w="19398061">
                <a:moveTo>
                  <a:pt x="0" y="0"/>
                </a:moveTo>
                <a:lnTo>
                  <a:pt x="19398061" y="0"/>
                </a:lnTo>
                <a:lnTo>
                  <a:pt x="19398061" y="1434601"/>
                </a:lnTo>
                <a:lnTo>
                  <a:pt x="0" y="14346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65619" y="3064433"/>
            <a:ext cx="7244965" cy="4768504"/>
          </a:xfrm>
          <a:custGeom>
            <a:avLst/>
            <a:gdLst/>
            <a:ahLst/>
            <a:cxnLst/>
            <a:rect r="r" b="b" t="t" l="l"/>
            <a:pathLst>
              <a:path h="4768504" w="7244965">
                <a:moveTo>
                  <a:pt x="0" y="0"/>
                </a:moveTo>
                <a:lnTo>
                  <a:pt x="7244965" y="0"/>
                </a:lnTo>
                <a:lnTo>
                  <a:pt x="7244965" y="4768504"/>
                </a:lnTo>
                <a:lnTo>
                  <a:pt x="0" y="47685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2" r="0" b="-12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79346" y="2112317"/>
            <a:ext cx="12108654" cy="6132759"/>
          </a:xfrm>
          <a:custGeom>
            <a:avLst/>
            <a:gdLst/>
            <a:ahLst/>
            <a:cxnLst/>
            <a:rect r="r" b="b" t="t" l="l"/>
            <a:pathLst>
              <a:path h="6132759" w="12108654">
                <a:moveTo>
                  <a:pt x="0" y="0"/>
                </a:moveTo>
                <a:lnTo>
                  <a:pt x="12108654" y="0"/>
                </a:lnTo>
                <a:lnTo>
                  <a:pt x="12108654" y="6132759"/>
                </a:lnTo>
                <a:lnTo>
                  <a:pt x="0" y="61327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913163" y="-1291374"/>
            <a:ext cx="3470026" cy="3470026"/>
          </a:xfrm>
          <a:custGeom>
            <a:avLst/>
            <a:gdLst/>
            <a:ahLst/>
            <a:cxnLst/>
            <a:rect r="r" b="b" t="t" l="l"/>
            <a:pathLst>
              <a:path h="3470026" w="3470026">
                <a:moveTo>
                  <a:pt x="0" y="0"/>
                </a:moveTo>
                <a:lnTo>
                  <a:pt x="3470026" y="0"/>
                </a:lnTo>
                <a:lnTo>
                  <a:pt x="3470026" y="3470026"/>
                </a:lnTo>
                <a:lnTo>
                  <a:pt x="0" y="34700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13237" y="-2170874"/>
            <a:ext cx="4349527" cy="4349527"/>
          </a:xfrm>
          <a:custGeom>
            <a:avLst/>
            <a:gdLst/>
            <a:ahLst/>
            <a:cxnLst/>
            <a:rect r="r" b="b" t="t" l="l"/>
            <a:pathLst>
              <a:path h="4349527" w="4349527">
                <a:moveTo>
                  <a:pt x="0" y="0"/>
                </a:moveTo>
                <a:lnTo>
                  <a:pt x="4349527" y="0"/>
                </a:lnTo>
                <a:lnTo>
                  <a:pt x="4349527" y="4349527"/>
                </a:lnTo>
                <a:lnTo>
                  <a:pt x="0" y="434952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008593" y="312681"/>
            <a:ext cx="13734115" cy="2701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b="true" sz="6998" spc="-2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WHY </a:t>
            </a:r>
            <a:r>
              <a:rPr lang="en-US" b="true" sz="6998" spc="-20">
                <a:solidFill>
                  <a:srgbClr val="FF3131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MODERN RECRUITMENT </a:t>
            </a:r>
          </a:p>
          <a:p>
            <a:pPr algn="ctr">
              <a:lnSpc>
                <a:spcPts val="6999"/>
              </a:lnSpc>
            </a:pPr>
            <a:r>
              <a:rPr lang="en-US" b="true" sz="6998" spc="-2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NEEDS HRMS</a:t>
            </a:r>
          </a:p>
          <a:p>
            <a:pPr algn="ctr">
              <a:lnSpc>
                <a:spcPts val="699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179346" y="2947906"/>
            <a:ext cx="6714748" cy="529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79"/>
              </a:lnSpc>
            </a:pPr>
            <a:r>
              <a:rPr lang="en-US" b="true" sz="3699" u="sng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Operational Efficiency </a:t>
            </a:r>
          </a:p>
          <a:p>
            <a:pPr algn="just">
              <a:lnSpc>
                <a:spcPts val="5179"/>
              </a:lnSpc>
            </a:pPr>
            <a:r>
              <a:rPr lang="en-US" sz="3699">
                <a:solidFill>
                  <a:srgbClr val="000000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Eliminates manual paperwork </a:t>
            </a:r>
          </a:p>
          <a:p>
            <a:pPr algn="just">
              <a:lnSpc>
                <a:spcPts val="5179"/>
              </a:lnSpc>
            </a:pPr>
            <a:r>
              <a:rPr lang="en-US" sz="3699">
                <a:solidFill>
                  <a:srgbClr val="000000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and administrative overhead </a:t>
            </a:r>
          </a:p>
          <a:p>
            <a:pPr algn="just">
              <a:lnSpc>
                <a:spcPts val="5179"/>
              </a:lnSpc>
            </a:pPr>
            <a:r>
              <a:rPr lang="en-US" sz="3699">
                <a:solidFill>
                  <a:srgbClr val="000000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Reduces time spent on routine </a:t>
            </a:r>
          </a:p>
          <a:p>
            <a:pPr algn="just">
              <a:lnSpc>
                <a:spcPts val="5179"/>
              </a:lnSpc>
            </a:pPr>
            <a:r>
              <a:rPr lang="en-US" sz="3699">
                <a:solidFill>
                  <a:srgbClr val="000000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scheduling tasks </a:t>
            </a:r>
          </a:p>
          <a:p>
            <a:pPr algn="just">
              <a:lnSpc>
                <a:spcPts val="5179"/>
              </a:lnSpc>
            </a:pPr>
            <a:r>
              <a:rPr lang="en-US" sz="3699">
                <a:solidFill>
                  <a:srgbClr val="000000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Automates candidate </a:t>
            </a:r>
          </a:p>
          <a:p>
            <a:pPr algn="just">
              <a:lnSpc>
                <a:spcPts val="5179"/>
              </a:lnSpc>
            </a:pPr>
            <a:r>
              <a:rPr lang="en-US" sz="3699">
                <a:solidFill>
                  <a:srgbClr val="000000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communication workflows</a:t>
            </a:r>
          </a:p>
          <a:p>
            <a:pPr algn="just">
              <a:lnSpc>
                <a:spcPts val="517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2233673" y="2535767"/>
            <a:ext cx="6714748" cy="529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79"/>
              </a:lnSpc>
            </a:pPr>
            <a:r>
              <a:rPr lang="en-US" b="true" sz="3699" u="sng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Speed &amp; Experience </a:t>
            </a:r>
          </a:p>
          <a:p>
            <a:pPr algn="just">
              <a:lnSpc>
                <a:spcPts val="5179"/>
              </a:lnSpc>
            </a:pPr>
            <a:r>
              <a:rPr lang="en-US" sz="3699">
                <a:solidFill>
                  <a:srgbClr val="000000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Accelerates hiring cycles with </a:t>
            </a:r>
          </a:p>
          <a:p>
            <a:pPr algn="just">
              <a:lnSpc>
                <a:spcPts val="5179"/>
              </a:lnSpc>
            </a:pPr>
            <a:r>
              <a:rPr lang="en-US" sz="3699">
                <a:solidFill>
                  <a:srgbClr val="000000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intelligent automation </a:t>
            </a:r>
          </a:p>
          <a:p>
            <a:pPr algn="just">
              <a:lnSpc>
                <a:spcPts val="5179"/>
              </a:lnSpc>
            </a:pPr>
            <a:r>
              <a:rPr lang="en-US" sz="3699">
                <a:solidFill>
                  <a:srgbClr val="000000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Leverages AI assistance for </a:t>
            </a:r>
          </a:p>
          <a:p>
            <a:pPr algn="just">
              <a:lnSpc>
                <a:spcPts val="5179"/>
              </a:lnSpc>
            </a:pPr>
            <a:r>
              <a:rPr lang="en-US" sz="3699">
                <a:solidFill>
                  <a:srgbClr val="000000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faster screening </a:t>
            </a:r>
          </a:p>
          <a:p>
            <a:pPr algn="just">
              <a:lnSpc>
                <a:spcPts val="5179"/>
              </a:lnSpc>
            </a:pPr>
            <a:r>
              <a:rPr lang="en-US" sz="3699">
                <a:solidFill>
                  <a:srgbClr val="000000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Delivers timely feedback to </a:t>
            </a:r>
          </a:p>
          <a:p>
            <a:pPr algn="just">
              <a:lnSpc>
                <a:spcPts val="5179"/>
              </a:lnSpc>
            </a:pPr>
            <a:r>
              <a:rPr lang="en-US" sz="3699">
                <a:solidFill>
                  <a:srgbClr val="000000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keep candidates engaged</a:t>
            </a:r>
          </a:p>
          <a:p>
            <a:pPr algn="just">
              <a:lnSpc>
                <a:spcPts val="517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13904" y="9113639"/>
            <a:ext cx="19398061" cy="1434601"/>
          </a:xfrm>
          <a:custGeom>
            <a:avLst/>
            <a:gdLst/>
            <a:ahLst/>
            <a:cxnLst/>
            <a:rect r="r" b="b" t="t" l="l"/>
            <a:pathLst>
              <a:path h="1434601" w="19398061">
                <a:moveTo>
                  <a:pt x="0" y="0"/>
                </a:moveTo>
                <a:lnTo>
                  <a:pt x="19398061" y="0"/>
                </a:lnTo>
                <a:lnTo>
                  <a:pt x="19398061" y="1434601"/>
                </a:lnTo>
                <a:lnTo>
                  <a:pt x="0" y="14346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09054" y="-1317709"/>
            <a:ext cx="4019189" cy="4404661"/>
          </a:xfrm>
          <a:custGeom>
            <a:avLst/>
            <a:gdLst/>
            <a:ahLst/>
            <a:cxnLst/>
            <a:rect r="r" b="b" t="t" l="l"/>
            <a:pathLst>
              <a:path h="4404661" w="4019189">
                <a:moveTo>
                  <a:pt x="4019189" y="4404661"/>
                </a:moveTo>
                <a:lnTo>
                  <a:pt x="0" y="4404661"/>
                </a:lnTo>
                <a:lnTo>
                  <a:pt x="0" y="0"/>
                </a:lnTo>
                <a:lnTo>
                  <a:pt x="4019189" y="0"/>
                </a:lnTo>
                <a:lnTo>
                  <a:pt x="4019189" y="440466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6" r="0" b="-56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28939" y="1319143"/>
            <a:ext cx="11199698" cy="7698767"/>
          </a:xfrm>
          <a:custGeom>
            <a:avLst/>
            <a:gdLst/>
            <a:ahLst/>
            <a:cxnLst/>
            <a:rect r="r" b="b" t="t" l="l"/>
            <a:pathLst>
              <a:path h="7698767" w="11199698">
                <a:moveTo>
                  <a:pt x="0" y="0"/>
                </a:moveTo>
                <a:lnTo>
                  <a:pt x="11199698" y="0"/>
                </a:lnTo>
                <a:lnTo>
                  <a:pt x="11199698" y="7698767"/>
                </a:lnTo>
                <a:lnTo>
                  <a:pt x="0" y="76987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895858" y="7494482"/>
            <a:ext cx="6202832" cy="4511150"/>
          </a:xfrm>
          <a:custGeom>
            <a:avLst/>
            <a:gdLst/>
            <a:ahLst/>
            <a:cxnLst/>
            <a:rect r="r" b="b" t="t" l="l"/>
            <a:pathLst>
              <a:path h="4511150" w="6202832">
                <a:moveTo>
                  <a:pt x="0" y="0"/>
                </a:moveTo>
                <a:lnTo>
                  <a:pt x="6202832" y="0"/>
                </a:lnTo>
                <a:lnTo>
                  <a:pt x="6202832" y="4511150"/>
                </a:lnTo>
                <a:lnTo>
                  <a:pt x="0" y="45111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91" r="0" b="-191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987762"/>
            <a:ext cx="9247215" cy="1474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b="true" sz="2600" u="sng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Job Requisition &amp; Posting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Multi-channel job distribution across career portals, job boards, and social media to reach wider talent pools efficiently. </a:t>
            </a:r>
          </a:p>
        </p:txBody>
      </p:sp>
      <p:sp>
        <p:nvSpPr>
          <p:cNvPr name="Freeform 7" id="7"/>
          <p:cNvSpPr/>
          <p:nvPr/>
        </p:nvSpPr>
        <p:spPr>
          <a:xfrm flipH="true" flipV="false" rot="0">
            <a:off x="16396178" y="-101270"/>
            <a:ext cx="1971783" cy="1971783"/>
          </a:xfrm>
          <a:custGeom>
            <a:avLst/>
            <a:gdLst/>
            <a:ahLst/>
            <a:cxnLst/>
            <a:rect r="r" b="b" t="t" l="l"/>
            <a:pathLst>
              <a:path h="1971783" w="1971783">
                <a:moveTo>
                  <a:pt x="1971783" y="0"/>
                </a:moveTo>
                <a:lnTo>
                  <a:pt x="0" y="0"/>
                </a:lnTo>
                <a:lnTo>
                  <a:pt x="0" y="1971783"/>
                </a:lnTo>
                <a:lnTo>
                  <a:pt x="1971783" y="1971783"/>
                </a:lnTo>
                <a:lnTo>
                  <a:pt x="197178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963780" y="7129118"/>
            <a:ext cx="1461456" cy="365364"/>
          </a:xfrm>
          <a:custGeom>
            <a:avLst/>
            <a:gdLst/>
            <a:ahLst/>
            <a:cxnLst/>
            <a:rect r="r" b="b" t="t" l="l"/>
            <a:pathLst>
              <a:path h="365364" w="1461456">
                <a:moveTo>
                  <a:pt x="0" y="0"/>
                </a:moveTo>
                <a:lnTo>
                  <a:pt x="1461456" y="0"/>
                </a:lnTo>
                <a:lnTo>
                  <a:pt x="1461456" y="365364"/>
                </a:lnTo>
                <a:lnTo>
                  <a:pt x="0" y="36536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649" r="0" b="-649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851770" y="-1750407"/>
            <a:ext cx="3032383" cy="3032383"/>
          </a:xfrm>
          <a:custGeom>
            <a:avLst/>
            <a:gdLst/>
            <a:ahLst/>
            <a:cxnLst/>
            <a:rect r="r" b="b" t="t" l="l"/>
            <a:pathLst>
              <a:path h="3032383" w="3032383">
                <a:moveTo>
                  <a:pt x="0" y="0"/>
                </a:moveTo>
                <a:lnTo>
                  <a:pt x="3032383" y="0"/>
                </a:lnTo>
                <a:lnTo>
                  <a:pt x="3032383" y="3032383"/>
                </a:lnTo>
                <a:lnTo>
                  <a:pt x="0" y="303238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65973" y="479044"/>
            <a:ext cx="15059263" cy="908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7"/>
              </a:lnSpc>
            </a:pPr>
            <a:r>
              <a:rPr lang="en-US" b="true" sz="4719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Features of Recruitment Management in HRMS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347932"/>
            <a:ext cx="9247215" cy="202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b="true" sz="2799" u="sng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Applicant Tracking System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Advanced resume parsing, candidate status tracking, and pipeline visualization to manage hundreds of applications seamlessly.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5258012"/>
            <a:ext cx="9247215" cy="1529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b="true" sz="2799" u="sng">
                <a:solidFill>
                  <a:srgbClr val="000000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Interview Management </a:t>
            </a:r>
            <a:r>
              <a:rPr lang="en-US" sz="2799">
                <a:solidFill>
                  <a:srgbClr val="000000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Automated scheduling, interviewer coordination, feedback collection, and scoring to streamline the selection process.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6672792"/>
            <a:ext cx="9247215" cy="1529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b="true" sz="2799" u="sng">
                <a:solidFill>
                  <a:srgbClr val="000000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Reporting &amp; Analytics </a:t>
            </a:r>
            <a:r>
              <a:rPr lang="en-US" sz="2799">
                <a:solidFill>
                  <a:srgbClr val="000000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Comprehensive hiring metrics, time-to-fill analysis, and bottleneck identification to optimize recruitment strategies continuously.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13904" y="9113639"/>
            <a:ext cx="19398061" cy="1434601"/>
          </a:xfrm>
          <a:custGeom>
            <a:avLst/>
            <a:gdLst/>
            <a:ahLst/>
            <a:cxnLst/>
            <a:rect r="r" b="b" t="t" l="l"/>
            <a:pathLst>
              <a:path h="1434601" w="19398061">
                <a:moveTo>
                  <a:pt x="0" y="0"/>
                </a:moveTo>
                <a:lnTo>
                  <a:pt x="19398061" y="0"/>
                </a:lnTo>
                <a:lnTo>
                  <a:pt x="19398061" y="1434601"/>
                </a:lnTo>
                <a:lnTo>
                  <a:pt x="0" y="14346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407235" y="2639834"/>
            <a:ext cx="5240800" cy="5259927"/>
          </a:xfrm>
          <a:custGeom>
            <a:avLst/>
            <a:gdLst/>
            <a:ahLst/>
            <a:cxnLst/>
            <a:rect r="r" b="b" t="t" l="l"/>
            <a:pathLst>
              <a:path h="5259927" w="5240800">
                <a:moveTo>
                  <a:pt x="0" y="0"/>
                </a:moveTo>
                <a:lnTo>
                  <a:pt x="5240800" y="0"/>
                </a:lnTo>
                <a:lnTo>
                  <a:pt x="5240800" y="5259927"/>
                </a:lnTo>
                <a:lnTo>
                  <a:pt x="0" y="5259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2386" y="2010533"/>
            <a:ext cx="10661142" cy="2128391"/>
          </a:xfrm>
          <a:custGeom>
            <a:avLst/>
            <a:gdLst/>
            <a:ahLst/>
            <a:cxnLst/>
            <a:rect r="r" b="b" t="t" l="l"/>
            <a:pathLst>
              <a:path h="2128391" w="10661142">
                <a:moveTo>
                  <a:pt x="0" y="0"/>
                </a:moveTo>
                <a:lnTo>
                  <a:pt x="10661142" y="0"/>
                </a:lnTo>
                <a:lnTo>
                  <a:pt x="10661142" y="2128391"/>
                </a:lnTo>
                <a:lnTo>
                  <a:pt x="0" y="21283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01487" y="347487"/>
            <a:ext cx="12540487" cy="946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8"/>
              </a:lnSpc>
            </a:pPr>
            <a:r>
              <a:rPr lang="en-US" b="true" sz="6998" spc="-20" u="sng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OPEN SOURCE </a:t>
            </a:r>
            <a:r>
              <a:rPr lang="en-US" b="true" sz="6998" spc="-20" u="sng">
                <a:solidFill>
                  <a:srgbClr val="FF3131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HRMS SOLUTIONS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70701" y="4118087"/>
            <a:ext cx="10661142" cy="2158760"/>
          </a:xfrm>
          <a:custGeom>
            <a:avLst/>
            <a:gdLst/>
            <a:ahLst/>
            <a:cxnLst/>
            <a:rect r="r" b="b" t="t" l="l"/>
            <a:pathLst>
              <a:path h="2158760" w="10661142">
                <a:moveTo>
                  <a:pt x="0" y="0"/>
                </a:moveTo>
                <a:lnTo>
                  <a:pt x="10661142" y="0"/>
                </a:lnTo>
                <a:lnTo>
                  <a:pt x="10661142" y="2158760"/>
                </a:lnTo>
                <a:lnTo>
                  <a:pt x="0" y="21587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83130" y="2132885"/>
            <a:ext cx="10036284" cy="1914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01"/>
              </a:lnSpc>
            </a:pPr>
            <a:r>
              <a:rPr lang="en-US" b="true" sz="2642" u="sng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OrangeHRM</a:t>
            </a:r>
          </a:p>
          <a:p>
            <a:pPr algn="l">
              <a:lnSpc>
                <a:spcPts val="3701"/>
              </a:lnSpc>
            </a:pPr>
            <a:r>
              <a:rPr lang="en-US" sz="2642">
                <a:solidFill>
                  <a:srgbClr val="000000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 Popular open-source system offering comprehensive recruitment, leave management, and performance modules with strong community support and regular updates.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3130" y="4458335"/>
            <a:ext cx="10501113" cy="141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b="true" sz="2599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iceHRM </a:t>
            </a: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Highly customizable platform combining recruitment management with document management features, ideal for organizations requiring flexible configurations.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23101" y="6256011"/>
            <a:ext cx="10661142" cy="2158760"/>
          </a:xfrm>
          <a:custGeom>
            <a:avLst/>
            <a:gdLst/>
            <a:ahLst/>
            <a:cxnLst/>
            <a:rect r="r" b="b" t="t" l="l"/>
            <a:pathLst>
              <a:path h="2158760" w="10661142">
                <a:moveTo>
                  <a:pt x="0" y="0"/>
                </a:moveTo>
                <a:lnTo>
                  <a:pt x="10661142" y="0"/>
                </a:lnTo>
                <a:lnTo>
                  <a:pt x="10661142" y="2158760"/>
                </a:lnTo>
                <a:lnTo>
                  <a:pt x="0" y="21587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46194" y="6686422"/>
            <a:ext cx="10438049" cy="1446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0"/>
              </a:lnSpc>
            </a:pPr>
            <a:r>
              <a:rPr lang="en-US" b="true" sz="2658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Benefits   </a:t>
            </a:r>
            <a:r>
              <a:rPr lang="en-US" sz="2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Cost-effective implementation, extensive customization capabilities, active community support, and transparent source code for enhanced security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13904" y="9113639"/>
            <a:ext cx="19398061" cy="1434601"/>
          </a:xfrm>
          <a:custGeom>
            <a:avLst/>
            <a:gdLst/>
            <a:ahLst/>
            <a:cxnLst/>
            <a:rect r="r" b="b" t="t" l="l"/>
            <a:pathLst>
              <a:path h="1434601" w="19398061">
                <a:moveTo>
                  <a:pt x="0" y="0"/>
                </a:moveTo>
                <a:lnTo>
                  <a:pt x="19398061" y="0"/>
                </a:lnTo>
                <a:lnTo>
                  <a:pt x="19398061" y="1434601"/>
                </a:lnTo>
                <a:lnTo>
                  <a:pt x="0" y="14346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228953" y="-776666"/>
            <a:ext cx="4019189" cy="4404661"/>
          </a:xfrm>
          <a:custGeom>
            <a:avLst/>
            <a:gdLst/>
            <a:ahLst/>
            <a:cxnLst/>
            <a:rect r="r" b="b" t="t" l="l"/>
            <a:pathLst>
              <a:path h="4404661" w="4019189">
                <a:moveTo>
                  <a:pt x="4019189" y="4404661"/>
                </a:moveTo>
                <a:lnTo>
                  <a:pt x="0" y="4404661"/>
                </a:lnTo>
                <a:lnTo>
                  <a:pt x="0" y="0"/>
                </a:lnTo>
                <a:lnTo>
                  <a:pt x="4019189" y="0"/>
                </a:lnTo>
                <a:lnTo>
                  <a:pt x="4019189" y="440466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6" r="0" b="-56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9900" y="3060353"/>
            <a:ext cx="178143" cy="178143"/>
          </a:xfrm>
          <a:custGeom>
            <a:avLst/>
            <a:gdLst/>
            <a:ahLst/>
            <a:cxnLst/>
            <a:rect r="r" b="b" t="t" l="l"/>
            <a:pathLst>
              <a:path h="178143" w="178143">
                <a:moveTo>
                  <a:pt x="0" y="0"/>
                </a:moveTo>
                <a:lnTo>
                  <a:pt x="178143" y="0"/>
                </a:lnTo>
                <a:lnTo>
                  <a:pt x="178143" y="178143"/>
                </a:lnTo>
                <a:lnTo>
                  <a:pt x="0" y="1781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811714" y="234140"/>
            <a:ext cx="10852821" cy="1927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68"/>
              </a:lnSpc>
            </a:pPr>
            <a:r>
              <a:rPr lang="en-US" b="true" sz="6998" spc="-20">
                <a:solidFill>
                  <a:srgbClr val="C62E2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AI-POWERED </a:t>
            </a:r>
            <a:r>
              <a:rPr lang="en-US" b="true" sz="6998" spc="-20">
                <a:solidFill>
                  <a:srgbClr val="FABC3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RECRUITMENT    </a:t>
            </a:r>
            <a:r>
              <a:rPr lang="en-US" b="true" sz="6998" spc="-20">
                <a:solidFill>
                  <a:srgbClr val="C62E2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ENHANCEMENTS</a:t>
            </a:r>
            <a:r>
              <a:rPr lang="en-US" b="true" sz="6998" spc="-20">
                <a:solidFill>
                  <a:srgbClr val="FABC3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28700" y="3312559"/>
            <a:ext cx="5683936" cy="2170077"/>
          </a:xfrm>
          <a:custGeom>
            <a:avLst/>
            <a:gdLst/>
            <a:ahLst/>
            <a:cxnLst/>
            <a:rect r="r" b="b" t="t" l="l"/>
            <a:pathLst>
              <a:path h="2170077" w="5683936">
                <a:moveTo>
                  <a:pt x="0" y="0"/>
                </a:moveTo>
                <a:lnTo>
                  <a:pt x="5683936" y="0"/>
                </a:lnTo>
                <a:lnTo>
                  <a:pt x="5683936" y="2170077"/>
                </a:lnTo>
                <a:lnTo>
                  <a:pt x="0" y="21700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50828" y="6209539"/>
            <a:ext cx="178143" cy="178143"/>
          </a:xfrm>
          <a:custGeom>
            <a:avLst/>
            <a:gdLst/>
            <a:ahLst/>
            <a:cxnLst/>
            <a:rect r="r" b="b" t="t" l="l"/>
            <a:pathLst>
              <a:path h="178143" w="178143">
                <a:moveTo>
                  <a:pt x="0" y="0"/>
                </a:moveTo>
                <a:lnTo>
                  <a:pt x="178143" y="0"/>
                </a:lnTo>
                <a:lnTo>
                  <a:pt x="178143" y="178143"/>
                </a:lnTo>
                <a:lnTo>
                  <a:pt x="0" y="1781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6460601"/>
            <a:ext cx="5683936" cy="2192152"/>
          </a:xfrm>
          <a:custGeom>
            <a:avLst/>
            <a:gdLst/>
            <a:ahLst/>
            <a:cxnLst/>
            <a:rect r="r" b="b" t="t" l="l"/>
            <a:pathLst>
              <a:path h="2192152" w="5683936">
                <a:moveTo>
                  <a:pt x="0" y="0"/>
                </a:moveTo>
                <a:lnTo>
                  <a:pt x="5683936" y="0"/>
                </a:lnTo>
                <a:lnTo>
                  <a:pt x="5683936" y="2192152"/>
                </a:lnTo>
                <a:lnTo>
                  <a:pt x="0" y="219215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14449230" y="-1067912"/>
            <a:ext cx="4019189" cy="4404661"/>
          </a:xfrm>
          <a:custGeom>
            <a:avLst/>
            <a:gdLst/>
            <a:ahLst/>
            <a:cxnLst/>
            <a:rect r="r" b="b" t="t" l="l"/>
            <a:pathLst>
              <a:path h="4404661" w="4019189">
                <a:moveTo>
                  <a:pt x="0" y="4404661"/>
                </a:moveTo>
                <a:lnTo>
                  <a:pt x="4019189" y="4404661"/>
                </a:lnTo>
                <a:lnTo>
                  <a:pt x="4019189" y="0"/>
                </a:lnTo>
                <a:lnTo>
                  <a:pt x="0" y="0"/>
                </a:lnTo>
                <a:lnTo>
                  <a:pt x="0" y="440466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6" r="0" b="-56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128476" y="4707801"/>
            <a:ext cx="5666955" cy="2192152"/>
          </a:xfrm>
          <a:custGeom>
            <a:avLst/>
            <a:gdLst/>
            <a:ahLst/>
            <a:cxnLst/>
            <a:rect r="r" b="b" t="t" l="l"/>
            <a:pathLst>
              <a:path h="2192152" w="5666955">
                <a:moveTo>
                  <a:pt x="0" y="0"/>
                </a:moveTo>
                <a:lnTo>
                  <a:pt x="5666955" y="0"/>
                </a:lnTo>
                <a:lnTo>
                  <a:pt x="5666955" y="2192152"/>
                </a:lnTo>
                <a:lnTo>
                  <a:pt x="0" y="219215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495485" y="4405177"/>
            <a:ext cx="178143" cy="178143"/>
          </a:xfrm>
          <a:custGeom>
            <a:avLst/>
            <a:gdLst/>
            <a:ahLst/>
            <a:cxnLst/>
            <a:rect r="r" b="b" t="t" l="l"/>
            <a:pathLst>
              <a:path h="178143" w="178143">
                <a:moveTo>
                  <a:pt x="0" y="0"/>
                </a:moveTo>
                <a:lnTo>
                  <a:pt x="178143" y="0"/>
                </a:lnTo>
                <a:lnTo>
                  <a:pt x="178143" y="178143"/>
                </a:lnTo>
                <a:lnTo>
                  <a:pt x="0" y="1781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3176432" y="3763474"/>
            <a:ext cx="4938687" cy="3224362"/>
            <a:chOff x="0" y="0"/>
            <a:chExt cx="6584916" cy="429914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584950" cy="4299204"/>
            </a:xfrm>
            <a:custGeom>
              <a:avLst/>
              <a:gdLst/>
              <a:ahLst/>
              <a:cxnLst/>
              <a:rect r="r" b="b" t="t" l="l"/>
              <a:pathLst>
                <a:path h="4299204" w="6584950">
                  <a:moveTo>
                    <a:pt x="0" y="0"/>
                  </a:moveTo>
                  <a:lnTo>
                    <a:pt x="6584950" y="0"/>
                  </a:lnTo>
                  <a:lnTo>
                    <a:pt x="6584950" y="4299204"/>
                  </a:lnTo>
                  <a:lnTo>
                    <a:pt x="0" y="42992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652" r="0" b="-65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780641" y="2866850"/>
            <a:ext cx="4604388" cy="486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b="true" sz="2600" u="sng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Intelligent Question Generation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62556" y="3517592"/>
            <a:ext cx="5416223" cy="1858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6"/>
              </a:lnSpc>
            </a:pPr>
            <a:r>
              <a:rPr lang="en-US" sz="2597">
                <a:solidFill>
                  <a:srgbClr val="000000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SmartHRM uses advanced AI algorithms to generate customized interview questions based on job requirements and candidate resume analysis.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91570" y="6016036"/>
            <a:ext cx="4693460" cy="486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b="true" sz="2600" u="sng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Automated Screening &amp; Scoring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30188" y="6593889"/>
            <a:ext cx="5416223" cy="1913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5"/>
              </a:lnSpc>
            </a:pPr>
            <a:r>
              <a:rPr lang="en-US" sz="2653">
                <a:solidFill>
                  <a:srgbClr val="000000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AI systems automatically score and rank candidates based on qualifications, experience, and skills match to job descriptions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78779" y="4203418"/>
            <a:ext cx="3086585" cy="486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40"/>
              </a:lnSpc>
            </a:pPr>
            <a:r>
              <a:rPr lang="en-US" b="true" sz="2600" u="sng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time Savings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302864" y="4814362"/>
            <a:ext cx="5318181" cy="1688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8"/>
              </a:lnSpc>
            </a:pPr>
            <a:r>
              <a:rPr lang="en-US" sz="2600">
                <a:solidFill>
                  <a:srgbClr val="000000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Saves HR teams countless hours previously spent on repetitive screening, formatting, and initial candidate evaluation tasks.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13904" y="9113639"/>
            <a:ext cx="19398061" cy="1434601"/>
          </a:xfrm>
          <a:custGeom>
            <a:avLst/>
            <a:gdLst/>
            <a:ahLst/>
            <a:cxnLst/>
            <a:rect r="r" b="b" t="t" l="l"/>
            <a:pathLst>
              <a:path h="1434601" w="19398061">
                <a:moveTo>
                  <a:pt x="0" y="0"/>
                </a:moveTo>
                <a:lnTo>
                  <a:pt x="19398061" y="0"/>
                </a:lnTo>
                <a:lnTo>
                  <a:pt x="19398061" y="1434601"/>
                </a:lnTo>
                <a:lnTo>
                  <a:pt x="0" y="14346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30120" y="3313708"/>
            <a:ext cx="14996151" cy="6058729"/>
          </a:xfrm>
          <a:custGeom>
            <a:avLst/>
            <a:gdLst/>
            <a:ahLst/>
            <a:cxnLst/>
            <a:rect r="r" b="b" t="t" l="l"/>
            <a:pathLst>
              <a:path h="6058729" w="14996151">
                <a:moveTo>
                  <a:pt x="0" y="0"/>
                </a:moveTo>
                <a:lnTo>
                  <a:pt x="14996151" y="0"/>
                </a:lnTo>
                <a:lnTo>
                  <a:pt x="14996151" y="6058729"/>
                </a:lnTo>
                <a:lnTo>
                  <a:pt x="0" y="60587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54526" y="-118143"/>
            <a:ext cx="5238482" cy="3981247"/>
          </a:xfrm>
          <a:custGeom>
            <a:avLst/>
            <a:gdLst/>
            <a:ahLst/>
            <a:cxnLst/>
            <a:rect r="r" b="b" t="t" l="l"/>
            <a:pathLst>
              <a:path h="3981247" w="5238482">
                <a:moveTo>
                  <a:pt x="0" y="0"/>
                </a:moveTo>
                <a:lnTo>
                  <a:pt x="5238482" y="0"/>
                </a:lnTo>
                <a:lnTo>
                  <a:pt x="5238482" y="3981247"/>
                </a:lnTo>
                <a:lnTo>
                  <a:pt x="0" y="39812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64643" y="114300"/>
            <a:ext cx="12589019" cy="1927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8"/>
              </a:lnSpc>
            </a:pPr>
            <a:r>
              <a:rPr lang="en-US" b="true" sz="6998" spc="-2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IMPLEMENTATION</a:t>
            </a:r>
            <a:r>
              <a:rPr lang="en-US" b="true" sz="6998" spc="-20">
                <a:solidFill>
                  <a:srgbClr val="FF3131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CHALLENGES</a:t>
            </a:r>
            <a:r>
              <a:rPr lang="en-US" b="true" sz="6998" spc="-2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IN RECRUITMENT HRMS</a:t>
            </a:r>
          </a:p>
        </p:txBody>
      </p:sp>
      <p:sp>
        <p:nvSpPr>
          <p:cNvPr name="Freeform 6" id="6"/>
          <p:cNvSpPr/>
          <p:nvPr/>
        </p:nvSpPr>
        <p:spPr>
          <a:xfrm flipH="true" flipV="true" rot="0">
            <a:off x="-1826713" y="-946292"/>
            <a:ext cx="4019189" cy="4404661"/>
          </a:xfrm>
          <a:custGeom>
            <a:avLst/>
            <a:gdLst/>
            <a:ahLst/>
            <a:cxnLst/>
            <a:rect r="r" b="b" t="t" l="l"/>
            <a:pathLst>
              <a:path h="4404661" w="4019189">
                <a:moveTo>
                  <a:pt x="4019189" y="4404661"/>
                </a:moveTo>
                <a:lnTo>
                  <a:pt x="0" y="4404661"/>
                </a:lnTo>
                <a:lnTo>
                  <a:pt x="0" y="0"/>
                </a:lnTo>
                <a:lnTo>
                  <a:pt x="4019189" y="0"/>
                </a:lnTo>
                <a:lnTo>
                  <a:pt x="4019189" y="4404661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56" r="0" b="-56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2881" y="3748803"/>
            <a:ext cx="14583149" cy="1583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8"/>
              </a:lnSpc>
            </a:pPr>
            <a:r>
              <a:rPr lang="en-US" b="true" sz="2899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Privacy &amp; Compliance </a:t>
            </a:r>
          </a:p>
          <a:p>
            <a:pPr algn="l">
              <a:lnSpc>
                <a:spcPts val="4058"/>
              </a:lnSpc>
            </a:pPr>
            <a:r>
              <a:rPr lang="en-US" sz="2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Maintaining candidate data security, ensuring GDPR compliance, and protecting sensitive personal information in centralized databases.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2881" y="5218194"/>
            <a:ext cx="14583149" cy="1583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8"/>
              </a:lnSpc>
            </a:pPr>
            <a:r>
              <a:rPr lang="en-US" b="true" sz="2899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System Integration </a:t>
            </a:r>
          </a:p>
          <a:p>
            <a:pPr algn="l">
              <a:lnSpc>
                <a:spcPts val="4058"/>
              </a:lnSpc>
            </a:pPr>
            <a:r>
              <a:rPr lang="en-US" sz="2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Seamlessly connecting recruitment modules with existing HR, payroll, and other business systems without data silos or loss.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2881" y="7087635"/>
            <a:ext cx="14583149" cy="1583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8"/>
              </a:lnSpc>
            </a:pPr>
            <a:r>
              <a:rPr lang="en-US" b="true" sz="2899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User Experience </a:t>
            </a:r>
          </a:p>
          <a:p>
            <a:pPr algn="l">
              <a:lnSpc>
                <a:spcPts val="4058"/>
              </a:lnSpc>
            </a:pPr>
            <a:r>
              <a:rPr lang="en-US" sz="2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Creating intuitive interfaces that HR teams and candidates find easy to navigate, reducing training time and adoption resistance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55030" y="9687597"/>
            <a:ext cx="19398061" cy="1434601"/>
          </a:xfrm>
          <a:custGeom>
            <a:avLst/>
            <a:gdLst/>
            <a:ahLst/>
            <a:cxnLst/>
            <a:rect r="r" b="b" t="t" l="l"/>
            <a:pathLst>
              <a:path h="1434601" w="19398061">
                <a:moveTo>
                  <a:pt x="0" y="0"/>
                </a:moveTo>
                <a:lnTo>
                  <a:pt x="19398061" y="0"/>
                </a:lnTo>
                <a:lnTo>
                  <a:pt x="19398061" y="1434601"/>
                </a:lnTo>
                <a:lnTo>
                  <a:pt x="0" y="14346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18133" y="1205716"/>
            <a:ext cx="7789192" cy="8626541"/>
          </a:xfrm>
          <a:custGeom>
            <a:avLst/>
            <a:gdLst/>
            <a:ahLst/>
            <a:cxnLst/>
            <a:rect r="r" b="b" t="t" l="l"/>
            <a:pathLst>
              <a:path h="8626541" w="7789192">
                <a:moveTo>
                  <a:pt x="0" y="0"/>
                </a:moveTo>
                <a:lnTo>
                  <a:pt x="7789192" y="0"/>
                </a:lnTo>
                <a:lnTo>
                  <a:pt x="7789192" y="8626541"/>
                </a:lnTo>
                <a:lnTo>
                  <a:pt x="0" y="86265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43465" y="403592"/>
            <a:ext cx="15047635" cy="946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8"/>
              </a:lnSpc>
            </a:pPr>
            <a:r>
              <a:rPr lang="en-US" b="true" sz="6998" spc="-2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HTML RECRUITMENT FORM EXAMPLE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735226" y="-1653048"/>
            <a:ext cx="3884681" cy="3884681"/>
          </a:xfrm>
          <a:custGeom>
            <a:avLst/>
            <a:gdLst/>
            <a:ahLst/>
            <a:cxnLst/>
            <a:rect r="r" b="b" t="t" l="l"/>
            <a:pathLst>
              <a:path h="3884681" w="3884681">
                <a:moveTo>
                  <a:pt x="0" y="0"/>
                </a:moveTo>
                <a:lnTo>
                  <a:pt x="3884681" y="0"/>
                </a:lnTo>
                <a:lnTo>
                  <a:pt x="3884681" y="3884681"/>
                </a:lnTo>
                <a:lnTo>
                  <a:pt x="0" y="38846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54567" y="-78450"/>
            <a:ext cx="2143505" cy="2143505"/>
          </a:xfrm>
          <a:custGeom>
            <a:avLst/>
            <a:gdLst/>
            <a:ahLst/>
            <a:cxnLst/>
            <a:rect r="r" b="b" t="t" l="l"/>
            <a:pathLst>
              <a:path h="2143505" w="2143505">
                <a:moveTo>
                  <a:pt x="0" y="0"/>
                </a:moveTo>
                <a:lnTo>
                  <a:pt x="2143505" y="0"/>
                </a:lnTo>
                <a:lnTo>
                  <a:pt x="2143505" y="2143505"/>
                </a:lnTo>
                <a:lnTo>
                  <a:pt x="0" y="21435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47940" y="1293227"/>
            <a:ext cx="6565652" cy="8302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5"/>
              </a:lnSpc>
            </a:pPr>
            <a:r>
              <a:rPr lang="en-US" sz="16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&lt;!DOCTYPE html&gt;</a:t>
            </a:r>
          </a:p>
          <a:p>
            <a:pPr algn="l">
              <a:lnSpc>
                <a:spcPts val="2275"/>
              </a:lnSpc>
            </a:pPr>
            <a:r>
              <a:rPr lang="en-US" sz="16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&lt;html&gt;</a:t>
            </a:r>
          </a:p>
          <a:p>
            <a:pPr algn="l">
              <a:lnSpc>
                <a:spcPts val="2275"/>
              </a:lnSpc>
            </a:pPr>
            <a:r>
              <a:rPr lang="en-US" sz="16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&lt;head&gt;</a:t>
            </a:r>
          </a:p>
          <a:p>
            <a:pPr algn="l">
              <a:lnSpc>
                <a:spcPts val="2275"/>
              </a:lnSpc>
            </a:pPr>
            <a:r>
              <a:rPr lang="en-US" sz="16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&lt;title&gt;Job Application Form&lt;/title&gt;</a:t>
            </a:r>
          </a:p>
          <a:p>
            <a:pPr algn="l">
              <a:lnSpc>
                <a:spcPts val="2275"/>
              </a:lnSpc>
            </a:pPr>
            <a:r>
              <a:rPr lang="en-US" sz="16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&lt;/head&gt;</a:t>
            </a:r>
          </a:p>
          <a:p>
            <a:pPr algn="l">
              <a:lnSpc>
                <a:spcPts val="2275"/>
              </a:lnSpc>
            </a:pPr>
            <a:r>
              <a:rPr lang="en-US" sz="16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&lt;body&gt;</a:t>
            </a:r>
          </a:p>
          <a:p>
            <a:pPr algn="l">
              <a:lnSpc>
                <a:spcPts val="2275"/>
              </a:lnSpc>
            </a:pPr>
            <a:r>
              <a:rPr lang="en-US" sz="16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&lt;form action="/submit-application" method="POST"</a:t>
            </a:r>
          </a:p>
          <a:p>
            <a:pPr algn="l">
              <a:lnSpc>
                <a:spcPts val="2275"/>
              </a:lnSpc>
            </a:pPr>
            <a:r>
              <a:rPr lang="en-US" sz="16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enctype="multipart/form-data"&gt;</a:t>
            </a:r>
          </a:p>
          <a:p>
            <a:pPr algn="l">
              <a:lnSpc>
                <a:spcPts val="2275"/>
              </a:lnSpc>
            </a:pPr>
            <a:r>
              <a:rPr lang="en-US" sz="16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&lt;label&gt;Full Name:&lt;/label&gt;</a:t>
            </a:r>
          </a:p>
          <a:p>
            <a:pPr algn="l">
              <a:lnSpc>
                <a:spcPts val="2275"/>
              </a:lnSpc>
            </a:pPr>
            <a:r>
              <a:rPr lang="en-US" sz="16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&lt;input type="text" name="fullname" required&gt;&lt;br&gt;</a:t>
            </a:r>
          </a:p>
          <a:p>
            <a:pPr algn="l">
              <a:lnSpc>
                <a:spcPts val="2275"/>
              </a:lnSpc>
            </a:pPr>
          </a:p>
          <a:p>
            <a:pPr algn="l">
              <a:lnSpc>
                <a:spcPts val="2275"/>
              </a:lnSpc>
            </a:pPr>
            <a:r>
              <a:rPr lang="en-US" sz="16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&lt;label&gt;Email:&lt;/label&gt;</a:t>
            </a:r>
          </a:p>
          <a:p>
            <a:pPr algn="l">
              <a:lnSpc>
                <a:spcPts val="2275"/>
              </a:lnSpc>
            </a:pPr>
            <a:r>
              <a:rPr lang="en-US" sz="16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&lt;input type="email" name="email" required&gt;&lt;br&gt;</a:t>
            </a:r>
          </a:p>
          <a:p>
            <a:pPr algn="l">
              <a:lnSpc>
                <a:spcPts val="2275"/>
              </a:lnSpc>
            </a:pPr>
          </a:p>
          <a:p>
            <a:pPr algn="l">
              <a:lnSpc>
                <a:spcPts val="2275"/>
              </a:lnSpc>
            </a:pPr>
            <a:r>
              <a:rPr lang="en-US" sz="16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&lt;label&gt;Phone:&lt;/label&gt;</a:t>
            </a:r>
          </a:p>
          <a:p>
            <a:pPr algn="l">
              <a:lnSpc>
                <a:spcPts val="2275"/>
              </a:lnSpc>
            </a:pPr>
            <a:r>
              <a:rPr lang="en-US" sz="16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&lt;input type="tel" name="phone"&gt;&lt;br&gt;</a:t>
            </a:r>
          </a:p>
          <a:p>
            <a:pPr algn="l">
              <a:lnSpc>
                <a:spcPts val="2275"/>
              </a:lnSpc>
            </a:pPr>
          </a:p>
          <a:p>
            <a:pPr algn="l">
              <a:lnSpc>
                <a:spcPts val="2275"/>
              </a:lnSpc>
            </a:pPr>
            <a:r>
              <a:rPr lang="en-US" sz="16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&lt;label&gt;Resume:&lt;/label&gt;</a:t>
            </a:r>
          </a:p>
          <a:p>
            <a:pPr algn="l">
              <a:lnSpc>
                <a:spcPts val="2275"/>
              </a:lnSpc>
            </a:pPr>
            <a:r>
              <a:rPr lang="en-US" sz="16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&lt;input type="file" name="resume" accept=".pdf,.doc,.docx"</a:t>
            </a:r>
          </a:p>
          <a:p>
            <a:pPr algn="l">
              <a:lnSpc>
                <a:spcPts val="2275"/>
              </a:lnSpc>
            </a:pPr>
            <a:r>
              <a:rPr lang="en-US" sz="16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required&gt;&lt;br&gt;</a:t>
            </a:r>
          </a:p>
          <a:p>
            <a:pPr algn="l">
              <a:lnSpc>
                <a:spcPts val="2275"/>
              </a:lnSpc>
            </a:pPr>
          </a:p>
          <a:p>
            <a:pPr algn="l">
              <a:lnSpc>
                <a:spcPts val="2275"/>
              </a:lnSpc>
            </a:pPr>
            <a:r>
              <a:rPr lang="en-US" sz="16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&lt;label&gt;Cover Letter:&lt;/label&gt;</a:t>
            </a:r>
          </a:p>
          <a:p>
            <a:pPr algn="l">
              <a:lnSpc>
                <a:spcPts val="2275"/>
              </a:lnSpc>
            </a:pPr>
            <a:r>
              <a:rPr lang="en-US" sz="16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&lt;textarea name="cover_letter" rows="5" cols="40"&gt;&lt;/textarea&gt;&lt;br&gt;</a:t>
            </a:r>
          </a:p>
          <a:p>
            <a:pPr algn="l">
              <a:lnSpc>
                <a:spcPts val="2275"/>
              </a:lnSpc>
            </a:pPr>
          </a:p>
          <a:p>
            <a:pPr algn="l">
              <a:lnSpc>
                <a:spcPts val="2275"/>
              </a:lnSpc>
            </a:pPr>
            <a:r>
              <a:rPr lang="en-US" sz="16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&lt;button type="submit"&gt;Submit Application&lt;/button&gt;</a:t>
            </a:r>
          </a:p>
          <a:p>
            <a:pPr algn="l">
              <a:lnSpc>
                <a:spcPts val="2275"/>
              </a:lnSpc>
            </a:pPr>
            <a:r>
              <a:rPr lang="en-US" sz="16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&lt;/form&gt;</a:t>
            </a:r>
          </a:p>
          <a:p>
            <a:pPr algn="l">
              <a:lnSpc>
                <a:spcPts val="2275"/>
              </a:lnSpc>
            </a:pPr>
            <a:r>
              <a:rPr lang="en-US" sz="16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&lt;/body&gt;</a:t>
            </a:r>
          </a:p>
          <a:p>
            <a:pPr algn="l">
              <a:lnSpc>
                <a:spcPts val="2275"/>
              </a:lnSpc>
            </a:pPr>
            <a:r>
              <a:rPr lang="en-US" sz="16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&lt;/html&gt;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567282" y="1920394"/>
            <a:ext cx="6705196" cy="3223106"/>
          </a:xfrm>
          <a:custGeom>
            <a:avLst/>
            <a:gdLst/>
            <a:ahLst/>
            <a:cxnLst/>
            <a:rect r="r" b="b" t="t" l="l"/>
            <a:pathLst>
              <a:path h="3223106" w="6705196">
                <a:moveTo>
                  <a:pt x="0" y="0"/>
                </a:moveTo>
                <a:lnTo>
                  <a:pt x="6705196" y="0"/>
                </a:lnTo>
                <a:lnTo>
                  <a:pt x="6705196" y="3223106"/>
                </a:lnTo>
                <a:lnTo>
                  <a:pt x="0" y="32231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743885" y="2277977"/>
            <a:ext cx="6705196" cy="2519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HTML form captures candidate information and accepts file uploads for resumes, integrating seamlessly with backend HRMS or ATS platforms for automated processing.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9567282" y="5980597"/>
            <a:ext cx="6705196" cy="3615223"/>
          </a:xfrm>
          <a:custGeom>
            <a:avLst/>
            <a:gdLst/>
            <a:ahLst/>
            <a:cxnLst/>
            <a:rect r="r" b="b" t="t" l="l"/>
            <a:pathLst>
              <a:path h="3615223" w="6705196">
                <a:moveTo>
                  <a:pt x="0" y="0"/>
                </a:moveTo>
                <a:lnTo>
                  <a:pt x="6705196" y="0"/>
                </a:lnTo>
                <a:lnTo>
                  <a:pt x="6705196" y="3615223"/>
                </a:lnTo>
                <a:lnTo>
                  <a:pt x="0" y="3615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097696" y="5244171"/>
            <a:ext cx="6705196" cy="647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LIKE ..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43885" y="6491312"/>
            <a:ext cx="6705196" cy="2903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  <a:r>
              <a:rPr lang="en-US" sz="26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Job Application FormFull Name:</a:t>
            </a:r>
          </a:p>
          <a:p>
            <a:pPr algn="just">
              <a:lnSpc>
                <a:spcPts val="3779"/>
              </a:lnSpc>
            </a:pPr>
            <a:r>
              <a:rPr lang="en-US" sz="26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Email:</a:t>
            </a:r>
          </a:p>
          <a:p>
            <a:pPr algn="just">
              <a:lnSpc>
                <a:spcPts val="3779"/>
              </a:lnSpc>
            </a:pPr>
            <a:r>
              <a:rPr lang="en-US" sz="26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Phone:</a:t>
            </a:r>
          </a:p>
          <a:p>
            <a:pPr algn="just">
              <a:lnSpc>
                <a:spcPts val="3779"/>
              </a:lnSpc>
            </a:pPr>
            <a:r>
              <a:rPr lang="en-US" sz="26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Resume:</a:t>
            </a:r>
          </a:p>
          <a:p>
            <a:pPr algn="just">
              <a:lnSpc>
                <a:spcPts val="3779"/>
              </a:lnSpc>
            </a:pPr>
            <a:r>
              <a:rPr lang="en-US" sz="26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Cover Letter:</a:t>
            </a:r>
          </a:p>
          <a:p>
            <a:pPr algn="just">
              <a:lnSpc>
                <a:spcPts val="3779"/>
              </a:lnSpc>
            </a:pPr>
            <a:r>
              <a:rPr lang="en-US" sz="26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Submit Application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16299" y="8357048"/>
            <a:ext cx="19995906" cy="2191192"/>
          </a:xfrm>
          <a:custGeom>
            <a:avLst/>
            <a:gdLst/>
            <a:ahLst/>
            <a:cxnLst/>
            <a:rect r="r" b="b" t="t" l="l"/>
            <a:pathLst>
              <a:path h="2191192" w="19995906">
                <a:moveTo>
                  <a:pt x="0" y="0"/>
                </a:moveTo>
                <a:lnTo>
                  <a:pt x="19995906" y="0"/>
                </a:lnTo>
                <a:lnTo>
                  <a:pt x="19995906" y="2191192"/>
                </a:lnTo>
                <a:lnTo>
                  <a:pt x="0" y="21911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23406" y="2106767"/>
            <a:ext cx="5909636" cy="6423517"/>
          </a:xfrm>
          <a:custGeom>
            <a:avLst/>
            <a:gdLst/>
            <a:ahLst/>
            <a:cxnLst/>
            <a:rect r="r" b="b" t="t" l="l"/>
            <a:pathLst>
              <a:path h="6423517" w="5909636">
                <a:moveTo>
                  <a:pt x="0" y="0"/>
                </a:moveTo>
                <a:lnTo>
                  <a:pt x="5909636" y="0"/>
                </a:lnTo>
                <a:lnTo>
                  <a:pt x="5909636" y="6423517"/>
                </a:lnTo>
                <a:lnTo>
                  <a:pt x="0" y="64235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17117" y="3059267"/>
            <a:ext cx="7226883" cy="327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23"/>
              </a:lnSpc>
            </a:pPr>
            <a:r>
              <a:rPr lang="en-US" b="true" sz="15981" spc="-47">
                <a:solidFill>
                  <a:srgbClr val="C62E2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THANK</a:t>
            </a:r>
            <a:r>
              <a:rPr lang="en-US" b="true" sz="15981" spc="-47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YOU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54567" y="-309835"/>
            <a:ext cx="3088866" cy="3088866"/>
          </a:xfrm>
          <a:custGeom>
            <a:avLst/>
            <a:gdLst/>
            <a:ahLst/>
            <a:cxnLst/>
            <a:rect r="r" b="b" t="t" l="l"/>
            <a:pathLst>
              <a:path h="3088866" w="3088866">
                <a:moveTo>
                  <a:pt x="0" y="0"/>
                </a:moveTo>
                <a:lnTo>
                  <a:pt x="3088866" y="0"/>
                </a:lnTo>
                <a:lnTo>
                  <a:pt x="3088866" y="3088866"/>
                </a:lnTo>
                <a:lnTo>
                  <a:pt x="0" y="3088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711906" y="-1569748"/>
            <a:ext cx="3139497" cy="3139497"/>
          </a:xfrm>
          <a:custGeom>
            <a:avLst/>
            <a:gdLst/>
            <a:ahLst/>
            <a:cxnLst/>
            <a:rect r="r" b="b" t="t" l="l"/>
            <a:pathLst>
              <a:path h="3139497" w="3139497">
                <a:moveTo>
                  <a:pt x="0" y="0"/>
                </a:moveTo>
                <a:lnTo>
                  <a:pt x="3139497" y="0"/>
                </a:lnTo>
                <a:lnTo>
                  <a:pt x="3139497" y="3139497"/>
                </a:lnTo>
                <a:lnTo>
                  <a:pt x="0" y="31394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702815" y="4752161"/>
            <a:ext cx="1993491" cy="498373"/>
          </a:xfrm>
          <a:custGeom>
            <a:avLst/>
            <a:gdLst/>
            <a:ahLst/>
            <a:cxnLst/>
            <a:rect r="r" b="b" t="t" l="l"/>
            <a:pathLst>
              <a:path h="498373" w="1993491">
                <a:moveTo>
                  <a:pt x="0" y="0"/>
                </a:moveTo>
                <a:lnTo>
                  <a:pt x="1993491" y="0"/>
                </a:lnTo>
                <a:lnTo>
                  <a:pt x="1993491" y="498373"/>
                </a:lnTo>
                <a:lnTo>
                  <a:pt x="0" y="49837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476" r="0" b="-476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5390418" y="-231054"/>
            <a:ext cx="3088866" cy="3088866"/>
          </a:xfrm>
          <a:custGeom>
            <a:avLst/>
            <a:gdLst/>
            <a:ahLst/>
            <a:cxnLst/>
            <a:rect r="r" b="b" t="t" l="l"/>
            <a:pathLst>
              <a:path h="3088866" w="3088866">
                <a:moveTo>
                  <a:pt x="3088866" y="0"/>
                </a:moveTo>
                <a:lnTo>
                  <a:pt x="0" y="0"/>
                </a:lnTo>
                <a:lnTo>
                  <a:pt x="0" y="3088866"/>
                </a:lnTo>
                <a:lnTo>
                  <a:pt x="3088866" y="3088866"/>
                </a:lnTo>
                <a:lnTo>
                  <a:pt x="3088866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DAG3-t0FJZg</dc:identifier>
  <dcterms:modified xsi:type="dcterms:W3CDTF">2011-08-01T06:04:30Z</dcterms:modified>
  <cp:revision>1</cp:revision>
  <dc:title>DOC-20251107-WA0001.</dc:title>
</cp:coreProperties>
</file>